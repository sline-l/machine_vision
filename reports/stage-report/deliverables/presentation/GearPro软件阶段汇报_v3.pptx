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3c848d5514031" /><Relationship Type="http://schemas.openxmlformats.org/officeDocument/2006/relationships/extended-properties" Target="/docProps/app.xml" Id="R91e398cb549f48f5" /><Relationship Type="http://schemas.openxmlformats.org/officeDocument/2006/relationships/officeDocument" Target="/ppt/presentation.xml" Id="R736deb5611cf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3b6762283f476c"/>
  </p:sldMasterIdLst>
  <p:notesMasterIdLst>
    <p:notesMasterId xmlns:r="http://schemas.openxmlformats.org/officeDocument/2006/relationships" r:id="Rc6314f57f0954617"/>
  </p:notesMasterIdLst>
  <p:sldIdLst>
    <p:sldId xmlns:r="http://schemas.openxmlformats.org/officeDocument/2006/relationships" id="256" r:id="Rab7d74fd13764289"/>
    <p:sldId xmlns:r="http://schemas.openxmlformats.org/officeDocument/2006/relationships" id="257" r:id="R67016f8c7a1f4df5"/>
    <p:sldId xmlns:r="http://schemas.openxmlformats.org/officeDocument/2006/relationships" id="258" r:id="R1943ba8b57c040d3"/>
    <p:sldId xmlns:r="http://schemas.openxmlformats.org/officeDocument/2006/relationships" id="259" r:id="Rd1a1e6099f3e42a8"/>
    <p:sldId xmlns:r="http://schemas.openxmlformats.org/officeDocument/2006/relationships" id="260" r:id="R2ed6ed8e02954abe"/>
    <p:sldId xmlns:r="http://schemas.openxmlformats.org/officeDocument/2006/relationships" id="261" r:id="Re9c543b08bb84f79"/>
    <p:sldId xmlns:r="http://schemas.openxmlformats.org/officeDocument/2006/relationships" id="262" r:id="Rb03025826ec44c54"/>
    <p:sldId xmlns:r="http://schemas.openxmlformats.org/officeDocument/2006/relationships" id="263" r:id="Ra15f027aebcb404f"/>
    <p:sldId xmlns:r="http://schemas.openxmlformats.org/officeDocument/2006/relationships" id="264" r:id="R65c6d4c5e35e4701"/>
    <p:sldId xmlns:r="http://schemas.openxmlformats.org/officeDocument/2006/relationships" id="265" r:id="R0d60884d438e4004"/>
    <p:sldId xmlns:r="http://schemas.openxmlformats.org/officeDocument/2006/relationships" id="266" r:id="R5fbd459d1f4940f8"/>
    <p:sldId xmlns:r="http://schemas.openxmlformats.org/officeDocument/2006/relationships" id="267" r:id="R4b85b1fb385b420e"/>
    <p:sldId xmlns:r="http://schemas.openxmlformats.org/officeDocument/2006/relationships" id="268" r:id="R2e4224c3752c4886"/>
    <p:sldId xmlns:r="http://schemas.openxmlformats.org/officeDocument/2006/relationships" id="269" r:id="R850dea4bb1af4ed3"/>
    <p:sldId xmlns:r="http://schemas.openxmlformats.org/officeDocument/2006/relationships" id="270" r:id="R7300e41b7c0d451a"/>
    <p:sldId xmlns:r="http://schemas.openxmlformats.org/officeDocument/2006/relationships" id="271" r:id="R9718206fb4aa46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23feb31f44d68" /><Relationship Type="http://schemas.openxmlformats.org/officeDocument/2006/relationships/slideMaster" Target="/ppt/slideMasters/slideMaster1.xml" Id="Rd83b6762283f476c" /><Relationship Type="http://schemas.openxmlformats.org/officeDocument/2006/relationships/notesMaster" Target="/ppt/notesMasters/notesMaster1.xml" Id="Rc6314f57f0954617" /><Relationship Type="http://schemas.openxmlformats.org/officeDocument/2006/relationships/presProps" Target="/ppt/presProps.xml" Id="R294fd862a6334b6b" /><Relationship Type="http://schemas.openxmlformats.org/officeDocument/2006/relationships/tableStyles" Target="/ppt/tableStyles.xml" Id="R3ac4147da2a0497d" /><Relationship Type="http://schemas.openxmlformats.org/officeDocument/2006/relationships/slide" Target="/ppt/slides/slide1.xml" Id="Rab7d74fd13764289" /><Relationship Type="http://schemas.openxmlformats.org/officeDocument/2006/relationships/slide" Target="/ppt/slides/slide2.xml" Id="R67016f8c7a1f4df5" /><Relationship Type="http://schemas.openxmlformats.org/officeDocument/2006/relationships/slide" Target="/ppt/slides/slide3.xml" Id="R1943ba8b57c040d3" /><Relationship Type="http://schemas.openxmlformats.org/officeDocument/2006/relationships/slide" Target="/ppt/slides/slide4.xml" Id="Rd1a1e6099f3e42a8" /><Relationship Type="http://schemas.openxmlformats.org/officeDocument/2006/relationships/slide" Target="/ppt/slides/slide5.xml" Id="R2ed6ed8e02954abe" /><Relationship Type="http://schemas.openxmlformats.org/officeDocument/2006/relationships/slide" Target="/ppt/slides/slide6.xml" Id="Re9c543b08bb84f79" /><Relationship Type="http://schemas.openxmlformats.org/officeDocument/2006/relationships/slide" Target="/ppt/slides/slide7.xml" Id="Rb03025826ec44c54" /><Relationship Type="http://schemas.openxmlformats.org/officeDocument/2006/relationships/slide" Target="/ppt/slides/slide8.xml" Id="Ra15f027aebcb404f" /><Relationship Type="http://schemas.openxmlformats.org/officeDocument/2006/relationships/slide" Target="/ppt/slides/slide9.xml" Id="R65c6d4c5e35e4701" /><Relationship Type="http://schemas.openxmlformats.org/officeDocument/2006/relationships/slide" Target="/ppt/slides/slide10.xml" Id="R0d60884d438e4004" /><Relationship Type="http://schemas.openxmlformats.org/officeDocument/2006/relationships/slide" Target="/ppt/slides/slide11.xml" Id="R5fbd459d1f4940f8" /><Relationship Type="http://schemas.openxmlformats.org/officeDocument/2006/relationships/slide" Target="/ppt/slides/slide12.xml" Id="R4b85b1fb385b420e" /><Relationship Type="http://schemas.openxmlformats.org/officeDocument/2006/relationships/slide" Target="/ppt/slides/slide13.xml" Id="R2e4224c3752c4886" /><Relationship Type="http://schemas.openxmlformats.org/officeDocument/2006/relationships/slide" Target="/ppt/slides/slide14.xml" Id="R850dea4bb1af4ed3" /><Relationship Type="http://schemas.openxmlformats.org/officeDocument/2006/relationships/slide" Target="/ppt/slides/slide15.xml" Id="R7300e41b7c0d451a" /><Relationship Type="http://schemas.openxmlformats.org/officeDocument/2006/relationships/slide" Target="/ppt/slides/slide16.xml" Id="R9718206fb4aa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9b4064b9d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ae3f5ecb44ca9" /><Relationship Type="http://schemas.openxmlformats.org/officeDocument/2006/relationships/notesMaster" Target="/ppt/notesMasters/notesMaster1.xml" Id="R0446903302d8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07883cced4717" /><Relationship Type="http://schemas.openxmlformats.org/officeDocument/2006/relationships/notesMaster" Target="/ppt/notesMasters/notesMaster1.xml" Id="Rcba7c60f2e6c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b54e75a164451" /><Relationship Type="http://schemas.openxmlformats.org/officeDocument/2006/relationships/notesMaster" Target="/ppt/notesMasters/notesMaster1.xml" Id="Rb3f6dce619a345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d4b15e18847b1" /><Relationship Type="http://schemas.openxmlformats.org/officeDocument/2006/relationships/notesMaster" Target="/ppt/notesMasters/notesMaster1.xml" Id="Recbf8f8b3151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8887ef3a14e36" /><Relationship Type="http://schemas.openxmlformats.org/officeDocument/2006/relationships/notesMaster" Target="/ppt/notesMasters/notesMaster1.xml" Id="Rf79bdde861cf47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68a8febdcc4e1f" /><Relationship Type="http://schemas.openxmlformats.org/officeDocument/2006/relationships/notesMaster" Target="/ppt/notesMasters/notesMaster1.xml" Id="Rd73e7e9349b5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f19b160ec4d35" /><Relationship Type="http://schemas.openxmlformats.org/officeDocument/2006/relationships/notesMaster" Target="/ppt/notesMasters/notesMaster1.xml" Id="R6562b7c08684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ec09dae4f4ffa" /><Relationship Type="http://schemas.openxmlformats.org/officeDocument/2006/relationships/notesMaster" Target="/ppt/notesMasters/notesMaster1.xml" Id="R399650af70ee4b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06642f22924475" /><Relationship Type="http://schemas.openxmlformats.org/officeDocument/2006/relationships/notesMaster" Target="/ppt/notesMasters/notesMaster1.xml" Id="R9563140883d641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cff2d1f7c4b51" /><Relationship Type="http://schemas.openxmlformats.org/officeDocument/2006/relationships/notesMaster" Target="/ppt/notesMasters/notesMaster1.xml" Id="R92854012a5f241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6bd15f893a4b84" /><Relationship Type="http://schemas.openxmlformats.org/officeDocument/2006/relationships/notesMaster" Target="/ppt/notesMasters/notesMaster1.xml" Id="Rdbd3d616d09349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0dfc08aa074f50" /><Relationship Type="http://schemas.openxmlformats.org/officeDocument/2006/relationships/notesMaster" Target="/ppt/notesMasters/notesMaster1.xml" Id="R5a81b044081741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c2216d42654e41" /><Relationship Type="http://schemas.openxmlformats.org/officeDocument/2006/relationships/notesMaster" Target="/ppt/notesMasters/notesMaster1.xml" Id="Re4e1b10695aa46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b04e98ee244802" /><Relationship Type="http://schemas.openxmlformats.org/officeDocument/2006/relationships/notesMaster" Target="/ppt/notesMasters/notesMaster1.xml" Id="Rbc3f0388b55f4c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9a83e087464522" /><Relationship Type="http://schemas.openxmlformats.org/officeDocument/2006/relationships/notesMaster" Target="/ppt/notesMasters/notesMaster1.xml" Id="R46a5612284df42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897ba8e2e141b4" /><Relationship Type="http://schemas.openxmlformats.org/officeDocument/2006/relationships/notesMaster" Target="/ppt/notesMasters/notesMaster1.xml" Id="R006c2f1fe282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讲解约15秒。开场只说明软件任务与本次汇报重点。来源：main-web README；dataset 锁定测试可视化。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讲解约45秒。先建立成果边界：软件已经形成闭环，但不能宣称达到无人值守产线要求。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讲解约50秒。强调 Recall 和 FPR 分别对应漏检与误剔除，后续所有数字均为离线锁定测试。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讲解约60秒。沿流程从左到右讲，指出左侧接相机、右侧接执行机构。视频测试模式会禁用串口。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讲解约55秒。重点解释像素预算和任务拆分，不需要展开 Model1 的训练细节。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讲解约70秒。解释工业图像的相邻帧泄漏风险，并主动说明 Scratch 的 dHash 近似项需要结合图像复核。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讲解约60秒。图中两组结果使用同一联合 test。统一模型更小，但当前泛化明显较弱。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讲解约75秒。分类器看整体，P2 检测器看局部；辅助框不直接决定判废。测试集未用于调阈值。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讲解约75秒。斜视 oblique Recall 只有 0.5882，是当前主要瓶颈；增加分辨率或训练轮数未解决根因。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讲解约55秒。OR 规则优先召回，代价是两个专项的误报会累积。不要把“出现辅助框”等同于判废。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讲解约65秒。专项指标分别针对划痕和缺齿；系统指标针对任意缺陷，不能把柱高理解为完全同口径排名。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讲解约60秒。依次指向三类错误，将每类错误直接连接到下一阶段行动。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讲解约60秒。强调线程边界：OpenCV 和模型推理不进入 FastAPI 事件循环，多客户端共享状态和 JPEG 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演示约3至4分钟。先相机证明联机，再用固定视频稳定展示正常、划痕和缺齿。若设备异常，立即切换录屏。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讲解约60秒。顺序很重要：先改善数据和成像，再做端侧加速，以免优化一个尚未稳定的模型。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讲解约30秒。收束到三点，不继续展开新信息，随后进入提问。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fbd19cbee43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9347ee40643d8" /><Relationship Type="http://schemas.openxmlformats.org/officeDocument/2006/relationships/slideLayout" Target="/ppt/slideLayouts/slideLayout1.xml" Id="R9cc85457b460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85457b460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f24d435324000" /><Relationship Type="http://schemas.openxmlformats.org/officeDocument/2006/relationships/image" Target="/ppt/media/image.jpeg" Id="R9a6d89eb04954045" /><Relationship Type="http://schemas.openxmlformats.org/officeDocument/2006/relationships/notesSlide" Target="/ppt/notesSlides/notesSlide1.xml" Id="Rb48aa1c08583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31bdab2d34661" /><Relationship Type="http://schemas.openxmlformats.org/officeDocument/2006/relationships/notesSlide" Target="/ppt/notesSlides/notesSlide2.xml" Id="Rff6ffaab441c40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14484d5e43df" /><Relationship Type="http://schemas.openxmlformats.org/officeDocument/2006/relationships/notesSlide" Target="/ppt/notesSlides/notesSlide3.xml" Id="R0de042759f6a48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6db46e5cb4700" /><Relationship Type="http://schemas.openxmlformats.org/officeDocument/2006/relationships/notesSlide" Target="/ppt/notesSlides/notesSlide4.xml" Id="Rd5826f0030b8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e3d3ec49402d" /><Relationship Type="http://schemas.openxmlformats.org/officeDocument/2006/relationships/notesSlide" Target="/ppt/notesSlides/notesSlide5.xml" Id="Rf742eb2b2d0642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8acd57994673" /><Relationship Type="http://schemas.openxmlformats.org/officeDocument/2006/relationships/notesSlide" Target="/ppt/notesSlides/notesSlide6.xml" Id="R66faf90554064d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66082dd8044d1" /><Relationship Type="http://schemas.openxmlformats.org/officeDocument/2006/relationships/chart" Target="/ppt/slides/charts/chart1.xml" Id="Rb30d95b88ef54c84" /><Relationship Type="http://schemas.openxmlformats.org/officeDocument/2006/relationships/notesSlide" Target="/ppt/notesSlides/notesSlide7.xml" Id="R9f8e08b072d9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79a82a1614cd0" /><Relationship Type="http://schemas.openxmlformats.org/officeDocument/2006/relationships/image" Target="/ppt/media/image2.jpeg" Id="Rca622218a5d74424" /><Relationship Type="http://schemas.openxmlformats.org/officeDocument/2006/relationships/image" Target="/ppt/media/image3.jpeg" Id="R7ae447e2bba14737" /><Relationship Type="http://schemas.openxmlformats.org/officeDocument/2006/relationships/notesSlide" Target="/ppt/notesSlides/notesSlide8.xml" Id="Rb189d637648d4b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5027d4414ef3" /><Relationship Type="http://schemas.openxmlformats.org/officeDocument/2006/relationships/image" Target="/ppt/media/image4.jpeg" Id="Ra4eeb48ad945435d" /><Relationship Type="http://schemas.openxmlformats.org/officeDocument/2006/relationships/notesSlide" Target="/ppt/notesSlides/notesSlide9.xml" Id="R608bb6c31d8c46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40ce8badf4ea4" /><Relationship Type="http://schemas.openxmlformats.org/officeDocument/2006/relationships/notesSlide" Target="/ppt/notesSlides/notesSlide10.xml" Id="R9cc006176ec946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7f7aaea454de9" /><Relationship Type="http://schemas.openxmlformats.org/officeDocument/2006/relationships/chart" Target="/ppt/slides/charts/chart2.xml" Id="R2bad9362520f4fbd" /><Relationship Type="http://schemas.openxmlformats.org/officeDocument/2006/relationships/notesSlide" Target="/ppt/notesSlides/notesSlide11.xml" Id="R4a6d80fb739b4f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2b1f774d44f6b" /><Relationship Type="http://schemas.openxmlformats.org/officeDocument/2006/relationships/image" Target="/ppt/media/image5.jpeg" Id="R88caa329503d42a6" /><Relationship Type="http://schemas.openxmlformats.org/officeDocument/2006/relationships/image" Target="/ppt/media/image6.jpeg" Id="R373b0abd055f41bb" /><Relationship Type="http://schemas.openxmlformats.org/officeDocument/2006/relationships/image" Target="/ppt/media/image7.jpeg" Id="R6dbe40999c504dda" /><Relationship Type="http://schemas.openxmlformats.org/officeDocument/2006/relationships/notesSlide" Target="/ppt/notesSlides/notesSlide12.xml" Id="R4b561eb3a2934f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2411303d4466" /><Relationship Type="http://schemas.openxmlformats.org/officeDocument/2006/relationships/image" Target="/ppt/media/image.png" Id="R9f77abe1d6dc496d" /><Relationship Type="http://schemas.openxmlformats.org/officeDocument/2006/relationships/notesSlide" Target="/ppt/notesSlides/notesSlide13.xml" Id="Rb86706e5f79b43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c5665d3fd4954" /><Relationship Type="http://schemas.openxmlformats.org/officeDocument/2006/relationships/notesSlide" Target="/ppt/notesSlides/notesSlide14.xml" Id="R6ae5feff7efd45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7a4842384b4a" /><Relationship Type="http://schemas.openxmlformats.org/officeDocument/2006/relationships/notesSlide" Target="/ppt/notesSlides/notesSlide15.xml" Id="R29e6400984c14c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bd8e330e64d05" /><Relationship Type="http://schemas.openxmlformats.org/officeDocument/2006/relationships/notesSlide" Target="/ppt/notesSlides/notesSlide16.xml" Id="Re0d91ddd802f401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118A80"/>
            </a:solidFill>
          </c:spPr>
          <c:cat>
            <c:strLit>
              <c:ptCount val="2"/>
              <c:pt idx="0">
                <c:v>双专项 OR</c:v>
              </c:pt>
              <c:pt idx="1">
                <c:v>统一单模型</c:v>
              </c:pt>
            </c:strLit>
          </c:cat>
          <c:val>
            <c:numLit>
              <c:formatCode>0%</c:formatCode>
              <c:ptCount val="2"/>
              <c:pt idx="0">
                <c:v>0.8873</c:v>
              </c:pt>
              <c:pt idx="1">
                <c:v>0.7606</c:v>
              </c:pt>
            </c:numLit>
          </c:val>
        </c:ser>
        <c:ser>
          <c:idx val="1"/>
          <c:order val="1"/>
          <c:tx>
            <c:v>FPR</c:v>
          </c:tx>
          <c:spPr>
            <a:solidFill xmlns:a="http://schemas.openxmlformats.org/drawingml/2006/main">
              <a:srgbClr val="D85B4A"/>
            </a:solidFill>
          </c:spPr>
          <c:cat>
            <c:strLit>
              <c:ptCount val="2"/>
              <c:pt idx="0">
                <c:v>双专项 OR</c:v>
              </c:pt>
              <c:pt idx="1">
                <c:v>统一单模型</c:v>
              </c:pt>
            </c:strLit>
          </c:cat>
          <c:val>
            <c:numLit>
              <c:formatCode>0%</c:formatCode>
              <c:ptCount val="2"/>
              <c:pt idx="0">
                <c:v>0.2278</c:v>
              </c:pt>
              <c:pt idx="1">
                <c:v>0.4177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3042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4F7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3042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118A80"/>
            </a:solidFill>
          </c:spPr>
          <c:cat>
            <c:strLit>
              <c:ptCount val="4"/>
              <c:pt idx="0">
                <c:v>Scratch</c:v>
              </c:pt>
              <c:pt idx="1">
                <c:v>Missing Hole</c:v>
              </c:pt>
              <c:pt idx="2">
                <c:v>双专项 OR</c:v>
              </c:pt>
              <c:pt idx="3">
                <c:v>统一单模型</c:v>
              </c:pt>
            </c:strLit>
          </c:cat>
          <c:val>
            <c:numLit>
              <c:formatCode>0%</c:formatCode>
              <c:ptCount val="4"/>
              <c:pt idx="0">
                <c:v>0.8065</c:v>
              </c:pt>
              <c:pt idx="1">
                <c:v>0.8182</c:v>
              </c:pt>
              <c:pt idx="2">
                <c:v>0.8873</c:v>
              </c:pt>
              <c:pt idx="3">
                <c:v>0.7606</c:v>
              </c:pt>
            </c:numLit>
          </c:val>
        </c:ser>
        <c:ser>
          <c:idx val="1"/>
          <c:order val="1"/>
          <c:tx>
            <c:v>FPR</c:v>
          </c:tx>
          <c:spPr>
            <a:solidFill xmlns:a="http://schemas.openxmlformats.org/drawingml/2006/main">
              <a:srgbClr val="D85B4A"/>
            </a:solidFill>
          </c:spPr>
          <c:cat>
            <c:strLit>
              <c:ptCount val="4"/>
              <c:pt idx="0">
                <c:v>Scratch</c:v>
              </c:pt>
              <c:pt idx="1">
                <c:v>Missing Hole</c:v>
              </c:pt>
              <c:pt idx="2">
                <c:v>双专项 OR</c:v>
              </c:pt>
              <c:pt idx="3">
                <c:v>统一单模型</c:v>
              </c:pt>
            </c:strLit>
          </c:cat>
          <c:val>
            <c:numLit>
              <c:formatCode>0%</c:formatCode>
              <c:ptCount val="4"/>
              <c:pt idx="0">
                <c:v>0.1681</c:v>
              </c:pt>
              <c:pt idx="1">
                <c:v>0.0377</c:v>
              </c:pt>
              <c:pt idx="2">
                <c:v>0.2278</c:v>
              </c:pt>
              <c:pt idx="3">
                <c:v>0.4177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3042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4F7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3042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35BF4-EDA1-4874-B7F8-7D48D559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rPr>
              <a:t>GEARPRO · 软件阶段汇报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63DD6-634F-42DF-8F33-075B5F7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齿轮视觉检测系统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10FF9-4038-4EE1-BC32-5C4C711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7E7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7E7EE"/>
                </a:solidFill>
                <a:latin typeface="Noto Sans CJK SC"/>
                <a:ea typeface="Noto Sans CJK SC"/>
                <a:cs typeface="Noto Sans CJK SC"/>
              </a:rPr>
              <a:t>从可信实验到双专项在线判定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453F-09E4-4B25-8841-27A5F8B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FE1D9-90D6-42AC-A42E-AC30147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定位齿轮，识别划痕与缺齿缺口，输出合格或剔除信号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4545F-1E26-49C8-B59E-000C0E9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FC4CE"/>
                </a:solidFill>
                <a:latin typeface="Noto Sans CJK SC"/>
                <a:ea typeface="Noto Sans CJK SC"/>
                <a:cs typeface="Noto Sans CJK SC"/>
              </a:rPr>
              <a:t>学校 / 团队 / 指导老师 / 汇报人：请替换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d89eb04954045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552450"/>
            <a:ext cx="4476750" cy="5734050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3ED2-B8CB-49A6-995D-50B1BCA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FF3DB-088D-4745-8C64-562714CD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0960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联合缺陷样本  ·  锁定测试可视化</a:t>
            </a:r>
          </a:p>
        </p:txBody>
      </p:sp>
    </p:spTree>
    <p:extLst>
      <p:ext uri="{BB962C8B-B14F-4D97-AF65-F5344CB8AC3E}">
        <p14:creationId xmlns:p14="http://schemas.microsoft.com/office/powerpoint/2010/main" val="116239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863A6-411E-44F5-B9E9-08558A7A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82940-4DAA-4154-AA84-56BD6624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本阶段已经形成可运行闭环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B7ACE-7FFD-4CFA-A663-54FE8E2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000C4-4A28-42E3-9C53-A17E66DB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BD3E0-FAF4-4FB5-B0D5-8180BAD5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F9A68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5D4A8-ED1E-49BB-ABAA-A866495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9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46487-5604-4B39-8EC0-C370B66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双专项进入 main-web 运行时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模型配置与权重哈希校验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Web 控制、统计与串口输出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DBB1-04DD-4A26-874D-DB6B927F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rPr>
              <a:t>待验证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7986D-2106-4F94-8387-B16F068A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574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9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FE840-83C7-466A-B88A-EF0AB26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Jetson NX 真实 CUDA 延迟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峰值显存、功耗与长期稳定性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真实照明下的端到端指标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D5313-B11C-4ECD-8B7F-BF1D3E5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4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尚未完成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2FF9E-8594-4666-9751-0D7DD763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E4CA7-E1B4-4651-B82B-CCE0B3D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Recall ≥ 0.95 且 FPR ≤ 0.20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全部模型 TensorRT / INT8</a:t>
            </a:r>
          </a:p>
          <a:p xmlns:a="http://schemas.openxmlformats.org/drawingml/2006/main">
            <a:pPr marL="241300" indent="-114300">
              <a:spcAft>
                <a:spcPts val="1500"/>
              </a:spcAft>
              <a:buChar char="•"/>
              <a:def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逐工件 ID 跟踪与生产验收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0A2BC-DDBF-44E0-9EA4-FA907AB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当前定位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3B451-46D4-466D-9B4E-3F402BF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系统闭环已跑通，模型仍处于可运行基线阶段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221FC-0C29-49BB-B887-50FFCF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依据：main-web README、architecture.md、Scratch V5 与 Missing Hole V1 运行说明</a:t>
            </a:r>
          </a:p>
        </p:txBody>
      </p:sp>
    </p:spTree>
    <p:extLst>
      <p:ext uri="{BB962C8B-B14F-4D97-AF65-F5344CB8AC3E}">
        <p14:creationId xmlns:p14="http://schemas.microsoft.com/office/powerpoint/2010/main" val="1823877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6D155-891F-49D6-B21B-28D8C4F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34AF-504F-48C5-81F0-89CC2ED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研究目标与评价方法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2071D-4A44-4201-8930-35CACBA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3B1C3-BC7F-446C-8D9B-16DD4E0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768A0-6D13-439E-9069-5407DD2A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阶段验收目标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4C1FE-D7C9-4F26-A5C8-77EC8486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≥ 0.95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3A4DA-DD4A-493E-B472-80A376E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Recall：缺陷召回率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AA466-79CB-4DBA-82EA-334052B0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≤ 0.20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ACE4-591C-4372-8501-88B7083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FPR：正常误报率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ABB6A-7C33-47E5-91EC-6CAB7FE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0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C96C5-25BD-42F1-ADC7-97244CD2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为什么重点看这两个指标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CE503-9FDC-4317-9DCE-604B56E2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400"/>
              </a:spcAft>
              <a:buChar char="•"/>
              <a:def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Recall 低意味着缺陷齿轮可能漏过检测</a:t>
            </a:r>
          </a:p>
          <a:p xmlns:a="http://schemas.openxmlformats.org/drawingml/2006/main">
            <a:pPr marL="241300" indent="-114300">
              <a:spcAft>
                <a:spcPts val="1400"/>
              </a:spcAft>
              <a:buChar char="•"/>
              <a:def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FPR 高意味着正常齿轮被过度剔除</a:t>
            </a:r>
          </a:p>
          <a:p xmlns:a="http://schemas.openxmlformats.org/drawingml/2006/main">
            <a:pPr marL="241300" indent="-114300">
              <a:spcAft>
                <a:spcPts val="1400"/>
              </a:spcAft>
              <a:buChar char="•"/>
              <a:def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Accuracy 会被正常样本比例影响，不能单独表达两类风险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D8A84-7A82-468A-9616-1A649ED1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离线指标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C9BFC-6B0A-4E24-8537-8BFFA67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6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用于比较方案与建立基线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4088F-F517-486E-9778-02D693CF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产线指标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C6E12-0995-41D0-B9A5-6542CF9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必须在真实设备与照明下重新验收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04D0B-AA9F-4E3C-A1D8-356442B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目标口径：dataset Missing Hole V1 FINAL_REPORT；离线与产线口径不得混用</a:t>
            </a:r>
          </a:p>
        </p:txBody>
      </p:sp>
    </p:spTree>
    <p:extLst>
      <p:ext uri="{BB962C8B-B14F-4D97-AF65-F5344CB8AC3E}">
        <p14:creationId xmlns:p14="http://schemas.microsoft.com/office/powerpoint/2010/main" val="1315592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4F156-99AD-4E62-BF25-F7149E3D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F7B87-1974-4897-A049-ABF090B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完整视觉处理流程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A75B-73C5-4F66-B377-F0A9224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FF67A-5ACD-4B08-A2A5-4ADE3DA4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DF5D7-B15D-4495-9004-0D73EB77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464F7-9EFF-443B-9F8D-B93D574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相机或视频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29855-5AF6-49AB-A59D-A4887BF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67C54-0657-4602-87A9-5B81EE7D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Model1</a:t>
            </a:r>
          </a:p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齿轮定位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0500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AE6D5-2993-41CD-8972-D4D6700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B9362-8110-403C-B9D6-F2DC6795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1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ROI 裁剪</a:t>
            </a:r>
          </a:p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四周外扩 4%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2BE58-6921-43E3-8462-4017EFC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13670-E2A6-47F2-84CF-F991C07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Scratch V5</a:t>
            </a:r>
          </a:p>
        </p:txBody>
      </p: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4350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4D569-5589-49FD-B546-99B89A0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E043E-39CC-40F1-9C9D-2D503BA7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Missing Hole V1</a:t>
            </a:r>
          </a:p>
        </p:txBody>
      </p: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6275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87C20-8F8E-491A-AE19-C54AE60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C99A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B8FA3-4616-4C08-A309-D880B3CE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独立阈值</a:t>
            </a:r>
          </a:p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OR 判定</a:t>
            </a:r>
          </a:p>
        </p:txBody>
      </p: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8200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B5A7E-7B74-46E5-BA5C-43449DA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43150"/>
            <a:ext cx="13811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9E7E3"/>
          </a:solidFill>
          <a:ln xmlns:a="http://schemas.openxmlformats.org/drawingml/2006/main" w="19050">
            <a:solidFill>
              <a:srgbClr val="D85B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64178-7C6A-4240-9E3C-A4EE83C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38400"/>
            <a:ext cx="1228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Web / 串口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00125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2420A-CADF-4FE1-B48B-6E75EB7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rPr>
              <a:t>硬件输入接口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9817B-3411-4E7B-B211-0105901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D5CCA-18EE-4E8A-B9C8-F5A9469E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硬件输出接口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B4FD7-A3F3-4557-A0B1-E676E6F3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057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5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E6FEC-BE3E-403E-96D6-19D00BF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同一 ROI 依次运行两个专项；任一齿轮的任一专项命中，整帧判为不合格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6A625-C165-43A8-9E52-E6ABA4E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无齿轮：不计数、不发串口    |    合格：ASCII 01    |    不合格：ASCII 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CD5D5-3C36-49BE-A499-BDECF1A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实现依据：gp/models.py、gp/runtime.py、gp/serial_io.py 与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301311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C5545-F00E-47EE-8B6C-015C8AE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A0B50-D1EF-44E2-A155-8528945B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关键决策一：先定位齿轮，再检查缺陷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EB472-7D3C-476B-A75D-0774DE9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21747-7704-4683-AA09-A5FCC94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E98E9-F018-4E3D-A771-14B35D3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整帧直接缩放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2B90B-D3C7-4904-B372-AFDEDAE3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4765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19050">
            <a:solidFill>
              <a:srgbClr val="D85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ADFCE-5A92-4860-87D6-799C544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微小划痕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占用像素进一步减少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背景与姿态干扰更强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D8FDA-93AC-465F-88D5-D912A70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Model1 定位 + ROI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993A0-7A65-4DEF-ABFC-BBDD65F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4765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1B95B-24F4-48BF-A402-60EDA656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像素预算集中到齿轮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分类与检测共享同一 ROI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框四周外扩 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1ECA7-6C3D-4225-B552-224C7D6F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多齿轮处理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7278C-809D-4A1D-B1EB-AE6FEBA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09800"/>
            <a:ext cx="24765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173B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5679B-B191-4402-809E-5E5A4D0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765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逐个生成 ROI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逐个完成双专项推理</a:t>
            </a:r>
          </a:p>
          <a:p xmlns:a="http://schemas.openxmlformats.org/drawingml/2006/main">
            <a:pPr algn="ctr">
              <a:def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任一命中即判废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D297E-2B54-4B68-A16D-49AFB4E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00D1B-091C-4E26-BD0A-B3CBEA8F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17FED-4574-4B72-B029-43343F19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定位先解决“看哪里”，专项再解决“有什么缺陷”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05981-5E51-41D8-82B0-CACE5F7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来源：gp/models.py；docs/architecture.md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257204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D2926-B219-4DCE-B2DC-EBDB3F4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4B775-36DD-43B7-861F-D499493D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数据拆分决定实验是否可信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1FB6-8C79-41D0-B77A-35BD84C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2BC8-4420-47BB-BFA1-204A27B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2D134-D3C0-40C9-87E8-0E252913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rPr>
              <a:t>训练集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88B73-12FF-4648-93BD-9319242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5265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5B765-BD19-40E3-843A-BD3A86B0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学习模型参数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D6A83-F0C1-4ABE-95EE-2A838086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验证集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A0445-13B2-4643-B78C-D8D7F75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8A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BB161-FE4D-4386-B072-5B50B0B2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选择结构、融合和阈值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03F13-59A6-49B9-9C75-57CDCA8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95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锁定测试集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AEE42-5EC3-4137-B075-2BC7641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5265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12588-DAA0-4897-8B52-031B57CE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6220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模型锁定后只评估一次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9EEA-81A8-46D9-9171-C4FF39DF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7EF3E-6C15-464B-80CF-F902C325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9757A-073A-4D81-8265-6A4D6841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近重复组隔离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C2ABA-05AF-42E9-997B-547AF577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857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SHA256 检查精确重复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dHash 与连续序号辅助识别近重复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同一齿轮与相邻帧尽量保持在同一组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3A80A-175E-4212-BC6C-229552F5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锁定测试纪律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505C1-B214-4CE0-9103-8F578DF2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857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Missing Hole：训练池与 test 无 SHA256 或 dHash≤2 重复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Scratch：精确重复为 0；近似匹配项需人工复核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当前 test 只用于迁移回归，不再调阈值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2F518-D4E8-4E3C-B4A4-7B1244B8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数据依据：dataset/docs/missing_hole_v1/FINAL_REPORT.md；Scratch V5 独立测试说明</a:t>
            </a:r>
          </a:p>
        </p:txBody>
      </p:sp>
    </p:spTree>
    <p:extLst>
      <p:ext uri="{BB962C8B-B14F-4D97-AF65-F5344CB8AC3E}">
        <p14:creationId xmlns:p14="http://schemas.microsoft.com/office/powerpoint/2010/main" val="1462169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7964F-BA49-484F-9130-360D777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9BEB8-025A-4C18-A190-DF5606D1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关键决策二：统一模型没有满足泛化要求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E330B-E5DB-4442-A10A-D55E680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15471-1FAC-455A-93E6-381C6CA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5430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0d95b88ef54c8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937BB-EA63-49E4-B413-A61E713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选择依据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27A35-10F8-4C2A-B576-76CEE4DD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3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300"/>
              </a:spcAft>
              <a:buChar char="•"/>
              <a:def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统一模型对任意缺陷的 Recall 更低</a:t>
            </a:r>
          </a:p>
          <a:p xmlns:a="http://schemas.openxmlformats.org/drawingml/2006/main">
            <a:pPr marL="241300" indent="-114300">
              <a:spcAft>
                <a:spcPts val="1300"/>
              </a:spcAft>
              <a:buChar char="•"/>
              <a:def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正常误报率达到 0.4177</a:t>
            </a:r>
          </a:p>
          <a:p xmlns:a="http://schemas.openxmlformats.org/drawingml/2006/main">
            <a:pPr marL="241300" indent="-114300">
              <a:spcAft>
                <a:spcPts val="1300"/>
              </a:spcAft>
              <a:buChar char="•"/>
              <a:def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划痕与结构缺陷具有不同视觉特征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C2B1A-2A9D-4289-8279-72FA9FD6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09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因此保留两个专项模型，并在最终结果层进行 OR 合并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796BD-2F1F-4199-BB90-B3A114F1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同一 150 张联合锁定 test：双专项 OR 63/18/61/8；统一模型 54/33/46/17</a:t>
            </a:r>
          </a:p>
        </p:txBody>
      </p:sp>
    </p:spTree>
    <p:extLst>
      <p:ext uri="{BB962C8B-B14F-4D97-AF65-F5344CB8AC3E}">
        <p14:creationId xmlns:p14="http://schemas.microsoft.com/office/powerpoint/2010/main" val="3162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362B5-6751-4FE7-A0C5-615F808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CAF80-3872-4E5A-987C-9037626D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Scratch V5：分类与局部检测互补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1042-1033-410E-A705-86FBA084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144F4-34C2-4E3C-9F50-244044CA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00633-CD95-4AFE-837D-3988FE2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19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80F06-0BDB-4C1B-BC30-6AB5FF5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EfficientNet-B0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图像级概率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C344B-5C32-4487-8428-A4A533A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19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E0A36-25F8-48F2-8ED6-861DA02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ResNet18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图像级概率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BF965-A0D8-4F65-AC0B-6C65FB2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219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ABD73-0D40-41DA-B13E-BC3B87A7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YOLO26-P2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局部划痕概率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EC9EE-1769-424B-9E38-42C033C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333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FBC4-19CC-480B-82AF-985B53F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温度校准后融合</a:t>
            </a:r>
          </a:p>
          <a:p xmlns:a="http://schemas.openxmlformats.org/drawingml/2006/main">
            <a:pPr algn="ctr">
              <a:def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0.25 × 分类均值</a:t>
            </a:r>
          </a:p>
          <a:p xmlns:a="http://schemas.openxmlformats.org/drawingml/2006/main">
            <a:pPr algn="ctr">
              <a:def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+ 0.75 × 检测概率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19400" y="2028825"/>
            <a:ext cx="51435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19400" y="2905125"/>
            <a:ext cx="5143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19400" y="2943225"/>
            <a:ext cx="51435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A64AF-14C9-4141-A367-677BFE85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0.8065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12E16-0B97-469E-AA3B-06E82142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F5455-4432-4574-953C-CF9558CD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863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0.1681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5DCB6-1E2A-4ABA-9B15-5702652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05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FPR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22218a5d74424"/>
          <a:srcRect xmlns:a="http://schemas.openxmlformats.org/drawingml/2006/main" l="19477" t="0" r="194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543050"/>
            <a:ext cx="2381250" cy="400050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EE766-CA8F-4070-AF1F-6CD08DC3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968"/>
          </a:solidFill>
          <a:ln xmlns:a="http://schemas.openxmlformats.org/drawingml/2006/main" w="9525">
            <a:solidFill>
              <a:srgbClr val="4059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507FC-F2AF-4C69-A6B9-CBF865F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划痕检出示例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447e2bba14737"/>
          <a:stretch xmlns:a="http://schemas.openxmlformats.org/drawingml/2006/main"/>
        </p:blipFill>
        <p:spPr>
          <a:xfrm xmlns:a="http://schemas.openxmlformats.org/drawingml/2006/main">
            <a:off x="8858250" y="2935231"/>
            <a:ext cx="2724150" cy="1216138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19399-2727-4A3B-A602-A08B400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正确检出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C8ED3-815A-4AD0-BB68-51F19787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漏检样本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6B7E8-0F4A-4008-AC08-44AE706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锁定 test：150 张（划痕 31、正常 119），TP/FP/TN/FN = 25/20/99/6</a:t>
            </a:r>
          </a:p>
        </p:txBody>
      </p:sp>
    </p:spTree>
    <p:extLst>
      <p:ext uri="{BB962C8B-B14F-4D97-AF65-F5344CB8AC3E}">
        <p14:creationId xmlns:p14="http://schemas.microsoft.com/office/powerpoint/2010/main" val="1148895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E424A-8980-44F2-9989-DF4B3BD2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C2CC2-0C30-42E0-B676-D7FD63C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Missing Hole V1：结构缺陷专项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E34F0-6E41-4101-9D5C-AC364FC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CF853-C0DA-46CB-832F-35AC880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eb48ad945435d"/>
          <a:srcRect xmlns:a="http://schemas.openxmlformats.org/drawingml/2006/main" l="8244" t="0" r="82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71625"/>
            <a:ext cx="4191000" cy="3981450"/>
          </a:xfrm>
          <a:prstGeom xmlns:a="http://schemas.openxmlformats.org/drawingml/2006/main" prst="roundRect">
            <a:avLst>
              <a:gd name="adj" fmla="val 430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D4D7B-4259-46A8-9F4C-B786F0E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5A7E3-5B8C-4E01-BABB-C88DCD1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oblique 样本  ·  REJECT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604B3-A9BD-48AF-B243-DEA9D083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716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两个分类器 + 标准单类检测器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BE3DE-698B-4C67-9F21-34C09638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00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温度校准后，分类均值与检测概率各占 0.50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45B4C-70E5-4506-8D48-A35AB687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0.8182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19712-1747-4459-90F6-8DEA8622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39601-A4FC-4B56-9BE7-7ACAECD1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0.9000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A8E8B-B360-403F-85C6-6825DA53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EAA88-86CB-4FEE-A27A-AC85C9E3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0.0377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41BBE-0214-47B3-8629-FB4444D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FPR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2A35D-AE07-4466-8482-5C559BF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不同视角的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37B83-D2F8-48A0-98AE-92697D1E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52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bottom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A6D63-84A2-48BC-B42F-9B6206DC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38100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9CF50-128F-4F62-8D49-E2A996CD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3492627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8A80"/>
          </a:solidFill>
          <a:ln xmlns:a="http://schemas.openxmlformats.org/drawingml/2006/main" w="9525">
            <a:solidFill>
              <a:srgbClr val="118A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8C236-72F9-4507-A997-F30CC717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434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91.7%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F1B93-1A5B-4409-8BE0-3DAD114A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oblique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634C6-A5B9-483B-988F-D452546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38100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6CACF-C899-4996-835C-555FCBC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2241042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85B4A"/>
          </a:solidFill>
          <a:ln xmlns:a="http://schemas.openxmlformats.org/drawingml/2006/main" w="9525">
            <a:solidFill>
              <a:srgbClr val="D85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16361-50D9-4F2E-9883-2C4456F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9815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58.8%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E4B2F-63B2-463C-B454-67E1142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BD30E-A077-44BB-9024-A122274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67350"/>
            <a:ext cx="38100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B8E26-9EF0-4336-92AE-D205CA3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67350"/>
            <a:ext cx="38100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56"/>
          </a:solidFill>
          <a:ln xmlns:a="http://schemas.openxmlformats.org/drawingml/2006/main" w="9525">
            <a:solidFill>
              <a:srgbClr val="173B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99E7E-8DE8-4319-8D62-A10C3698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197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100.0%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B8BE6-ACA3-4703-9862-BB087E9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锁定 test：150 张（缺陷 44、正常 106），TP/FP/TN/FN = 36/4/102/8</a:t>
            </a:r>
          </a:p>
        </p:txBody>
      </p:sp>
    </p:spTree>
    <p:extLst>
      <p:ext uri="{BB962C8B-B14F-4D97-AF65-F5344CB8AC3E}">
        <p14:creationId xmlns:p14="http://schemas.microsoft.com/office/powerpoint/2010/main" val="1696027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28B6D-E4C0-4760-B2CE-9354A3D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65B89-4ED5-41F6-B343-C51E2C8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关键决策三：两个专项独立过阈值后执行 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0A018-6CD4-49E2-8FF6-A0B37EB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DE28B-531F-445F-8441-C9EC1406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F61CF-DF91-402C-B25B-014D64AF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952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B58C-BD5F-437A-ADA2-F3DBA322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Scratch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517B2-850F-4D99-BA56-A141856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p ≥ 0.300274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C46AE-F205-4C4C-9871-B9C08A8B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952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91BF1-F416-4A77-9D44-5C99B8C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Missing Hole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42EE3-7BE8-4CED-B987-3ABAE6E6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p ≥ 0.341333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8DF22-7677-471B-AD91-AAE815F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09875"/>
            <a:ext cx="20002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28575">
            <a:solidFill>
              <a:srgbClr val="C99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64A29-B8AB-41E4-B4CC-211F768F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rPr>
              <a:t>OR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2505075"/>
            <a:ext cx="109537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05968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810000" y="3524250"/>
            <a:ext cx="109537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2AA27-4B9C-47C6-84E7-68DD361F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14325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9E7E3"/>
          </a:solidFill>
          <a:ln xmlns:a="http://schemas.openxmlformats.org/drawingml/2006/main" w="28575">
            <a:solidFill>
              <a:srgbClr val="D85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6CDA4-1822-464C-99FD-C5D3D407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最终判定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913BA-1709-4466-AC92-3A736BBF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任一专项命中</a:t>
            </a:r>
          </a:p>
          <a:p xmlns:a="http://schemas.openxmlformats.org/drawingml/2006/main">
            <a:pPr algn="ctr">
              <a:defRPr sz="24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整颗齿轮不合格</a:t>
            </a:r>
          </a:p>
        </p:txBody>
      </p: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6905625" y="3514725"/>
            <a:ext cx="1095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5F0F6-11C1-4527-8653-1711DCCA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辅助框用于复核模型关注区域；融合概率与独立阈值决定是否剔除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6CB46-166B-4EE4-B8DE-99B9B3BB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阈值来自发布配置，锁定 test 不再用于重新选择阈值</a:t>
            </a:r>
          </a:p>
        </p:txBody>
      </p:sp>
    </p:spTree>
    <p:extLst>
      <p:ext uri="{BB962C8B-B14F-4D97-AF65-F5344CB8AC3E}">
        <p14:creationId xmlns:p14="http://schemas.microsoft.com/office/powerpoint/2010/main" val="1263799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F6FEE-688E-4E46-9925-58CC682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73F37-57C1-4E09-9192-1948B1E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核心结果与目标差距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9B530-67DE-4EDE-A0CE-EEBF8554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48B70-7973-41D3-9223-E88FFAC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ad9362520f4fb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A5AB8-F4D1-4564-9CBE-1CCC8C9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双专项 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A7C61-408C-4F84-82D2-31150065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0.8873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5071A-1CD1-475B-A018-47A78D3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任意缺陷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9C999-44D3-496D-B275-862FAFCA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0.2278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54538-9951-4740-A267-6A7C63A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正常 FPR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49357-5FAC-4BAD-B94C-2AA7EAEC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可运行基线</a:t>
            </a:r>
          </a:p>
          <a:p xmlns:a="http://schemas.openxmlformats.org/drawingml/2006/main">
            <a:pPr algn="ctr">
              <a:def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尚未达到生产目标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088C2-5485-47A0-B458-F1AD2AB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专项与系统指标的任务口径不同，图表用于展示各自锁定结果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ADDCF-030C-4F12-B1C4-8A9A6A9C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联合 test 150 张：TP/FP/TN/FN = 63/18/61/8；目标 Recall≥0.95 且 FPR≤0.20</a:t>
            </a:r>
          </a:p>
        </p:txBody>
      </p:sp>
    </p:spTree>
    <p:extLst>
      <p:ext uri="{BB962C8B-B14F-4D97-AF65-F5344CB8AC3E}">
        <p14:creationId xmlns:p14="http://schemas.microsoft.com/office/powerpoint/2010/main" val="2030270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343E1-F918-4F5B-A3C7-1844646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3BE58-F931-46BD-A36A-87B7317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错误样本告诉我们下一步应改什么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1AD2-40A5-44EA-B056-7629250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2E855-3AA7-4A16-8C20-5552D6F3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aa329503d42a6"/>
          <a:stretch xmlns:a="http://schemas.openxmlformats.org/drawingml/2006/main"/>
        </p:blipFill>
        <p:spPr>
          <a:xfrm xmlns:a="http://schemas.openxmlformats.org/drawingml/2006/main">
            <a:off x="609600" y="2296886"/>
            <a:ext cx="3429000" cy="1530804"/>
          </a:xfrm>
          <a:prstGeom xmlns:a="http://schemas.openxmlformats.org/drawingml/2006/main" prst="roundRect">
            <a:avLst>
              <a:gd name="adj" fmla="val 50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CCE1A-E61D-4B01-8053-48BDA6E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低对比划痕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86FEE-F823-4FD1-89C1-2DDD6B48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43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补采真实低对比正样本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b0abd055f41bb"/>
          <a:srcRect xmlns:a="http://schemas.openxmlformats.org/drawingml/2006/main" l="4665" t="0" r="4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562100"/>
            <a:ext cx="3429000" cy="3000375"/>
          </a:xfrm>
          <a:prstGeom xmlns:a="http://schemas.openxmlformats.org/drawingml/2006/main" prst="roundRect">
            <a:avLst>
              <a:gd name="adj" fmla="val 50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6ECDD-1B9C-4E1A-947F-951C17C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621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03529-1674-4F19-AC29-1202164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6002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oblique 样本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69102-1935-4265-8151-ACB0556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05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斜视缺口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B40E7-F0C4-4A69-A7E8-3F1094FB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43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增加同一齿轮多角度采集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40999c504dda"/>
          <a:stretch xmlns:a="http://schemas.openxmlformats.org/drawingml/2006/main"/>
        </p:blipFill>
        <p:spPr>
          <a:xfrm xmlns:a="http://schemas.openxmlformats.org/drawingml/2006/main">
            <a:off x="8695182" y="1562100"/>
            <a:ext cx="2688336" cy="3000375"/>
          </a:xfrm>
          <a:prstGeom xmlns:a="http://schemas.openxmlformats.org/drawingml/2006/main" prst="roundRect">
            <a:avLst>
              <a:gd name="adj" fmla="val 507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B0B9D-A4F6-460D-8FF9-3016CF1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高光正常样本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41776-217C-46EC-A09E-9B5B870D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43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扩充反光负样本并稳定照明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7EBB9-11D4-43BF-97DA-CDAD9EC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当前误差更像数据与成像问题，而非继续增加训练轮数就能解决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3515D-CD95-4ED3-A2E9-5BC4D75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样本来源：dataset Scratch V5 false negatives / false positives；Missing Hole V1 oblique 可视化</a:t>
            </a:r>
          </a:p>
        </p:txBody>
      </p:sp>
    </p:spTree>
    <p:extLst>
      <p:ext uri="{BB962C8B-B14F-4D97-AF65-F5344CB8AC3E}">
        <p14:creationId xmlns:p14="http://schemas.microsoft.com/office/powerpoint/2010/main" val="1708903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0CBD5-3643-48BD-9792-D86C8C61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51251-1250-4772-B7F6-DC891C3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研究结果已经进入实际软件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F02F2-7767-46F3-AFB4-E74D247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508BD-FC31-4407-9F3A-867751A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16784-3CD4-47F1-9896-F665B92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190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19050">
            <a:solidFill>
              <a:srgbClr val="42B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5BCE2-E3A2-442B-AB99-83E5E33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CameraCapture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OpenCV 采集线程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ED8B5-C20C-407B-80A3-4C4CBCC4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2190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59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2ECA4-83E3-451F-B897-E119FBB5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LatestFrame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只保留最新帧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1CAD9-6B42-422F-9C7C-3A23920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2190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9050">
            <a:solidFill>
              <a:srgbClr val="118A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A34E8-6E68-43A7-BE3B-FD76B7B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InspectionWorker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常驻推理线程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BE5BA-2FBD-460E-9A51-1BB219A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2190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C99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D0AC0-30B5-4330-A5D2-B795050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Runtime</a:t>
            </a:r>
          </a:p>
          <a:p xmlns:a="http://schemas.openxmlformats.org/drawingml/2006/main">
            <a:pPr algn="ctr">
              <a:def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统计、串口、JPEG 缓存</a:t>
            </a:r>
          </a:p>
        </p:txBody>
      </p:sp>
      <p:cxnSp>
        <p:nvCxnSpPr>
          <p:cNvPr id="32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619250" y="2305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619250" y="33337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619250" y="43624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96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7F360-0B86-4443-9712-03E23C0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769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1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FastAPI / WebSocket / MJPEG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7abe1d6dc496d"/>
          <a:stretch xmlns:a="http://schemas.openxmlformats.org/drawingml/2006/main"/>
        </p:blipFill>
        <p:spPr>
          <a:xfrm xmlns:a="http://schemas.openxmlformats.org/drawingml/2006/main">
            <a:off x="3714750" y="1466850"/>
            <a:ext cx="7391400" cy="4619625"/>
          </a:xfrm>
          <a:prstGeom xmlns:a="http://schemas.openxmlformats.org/drawingml/2006/main" prst="roundRect">
            <a:avLst>
              <a:gd name="adj" fmla="val 32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1D426-1ABB-4DF6-87AB-2CD48FA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057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双专项概率、拒绝原因、阶段耗时与统计在同一界面可追溯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0F572-900F-4076-AE29-F85CCE7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界面来自当前 main-web 构建；架构依据 gp/runtime.py、gp/web.py 与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263178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95ACB-4969-4788-BF54-C1F3F3EC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9BA80-CC48-457D-8B3D-4225291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现场演示：实时相机与固定测试视频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67D48-A4A0-4BC6-99A0-CEA13275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C7017-B66F-46E0-A517-070A3A4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600BD-B912-4665-9FEB-ACD0EDB6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078C0-7A28-467F-9AE0-2E696A2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连接 Jetson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0DFC9-C324-467F-9A70-8E02D187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浏览器进入控制台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AC5F4-C0C8-4315-ABFB-58291EF6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76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E5918-50E8-40D3-B07B-8ABE760F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06CFD-14E7-408F-96C8-8C8A2CF4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811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接管控制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A4FA4-1569-4616-84FF-6674B81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确认服务与设备状态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30D96-5BF3-402D-83AD-F365F077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76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EF93D-2694-4BA3-BC67-D778E0F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37CB7-0A3D-43C5-BEE5-F3ADF5B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启动相机检测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3C1F0-4E95-4634-A088-0582CC1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观察实时标注与概率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0A8F5-065F-4BF8-8B70-93BE1F9A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337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9D8E9-D8B6-4169-85CE-B16B283C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337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上传测试视频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07309-7E1F-476F-B503-EA2706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稳定覆盖三类样本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FB90D-B787-4165-A141-0997C126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A50DF-0243-4301-896A-972D4CB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F2B98-5F83-40A3-84BF-539CF631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337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核对判定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E0DDC-3E8D-4069-B252-E5EA073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528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概率、阈值、原因、统计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76972-80A7-4DA0-9C06-06CB577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2512B-156C-4CEE-970A-2FEF693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37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1205B-D0F3-423A-B429-B6779BF0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337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返回相机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0F080-FFF8-49CD-B1CB-B3F9365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528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说明串口恢复条件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3222F-371E-49E2-990C-19B11BE4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DFACC-BFCC-4884-BC3B-F570F43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演示提示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9F6C8-D7EE-4C67-870C-9BC5E50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视频测试模式自动禁用串口；这用于避免测试素材触发真实执行机构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5DA62-9D5A-4322-9AF5-9CD236D1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备用：完整录屏 + 关键界面截图</a:t>
            </a:r>
          </a:p>
        </p:txBody>
      </p:sp>
    </p:spTree>
    <p:extLst>
      <p:ext uri="{BB962C8B-B14F-4D97-AF65-F5344CB8AC3E}">
        <p14:creationId xmlns:p14="http://schemas.microsoft.com/office/powerpoint/2010/main" val="20421732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56608-6D1D-417A-8690-7A3DEF5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40F58-6CA4-4E79-ADC6-28E49950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当前边界与下一阶段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57607-57FD-487B-899A-0BDEE38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84D9-C9F7-4E72-AB6B-C172D9C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14D4D-D557-47CA-BC6E-C31D1B2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4A5EA-B3AD-4D66-93DB-8AA6BAC0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335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补数据与稳定成像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3CABD-352F-4BBF-B85A-2B39DFA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145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低对比划痕、斜视缺口、高光正常样本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4A914-DCF5-4BE4-8017-DDC9F07C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4F6F-D1D5-4235-8208-44BDF8D6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40F3C-996D-4629-897F-163C4B5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38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按齿轮分组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497A7-9856-4E10-A55C-6054894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194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同一工件多角度保持同组，验证多帧聚合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6C612-5C9E-45B7-917B-B2DCA7D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79B05-97D7-424D-A707-42E96F9B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C99A2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27F6F-A285-44E4-B762-E90CF68D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3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Jetson 端到端验收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5786F-47FF-445A-A613-8CABC0CD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243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记录延迟、显存、功耗与长期稳定性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414D1-C7B9-4D89-B3B8-89675307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DF10A-8D93-4D1A-9E33-8FD5F495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38B9D-28E3-4FB9-AA96-186BCA0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48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建立新盲测集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62ABF-F232-4663-807A-83514AA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292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重新验收 Recall 与 FPR，不复用当前 test 调参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40DFB-A7D3-453A-9316-A880315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43A12-6A23-4964-A9DD-C7CEAC0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下一轮验收门槛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DDD0E-8C3C-4CE7-AA18-DFE2475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≥ 0.95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F7956-2F79-481D-9E22-D99E1EB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CB9BC-C4CF-47E7-82D7-0BE2EC76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≤ 0.20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3A902-6CF2-46AC-B1A5-F2E6214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243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FPR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62AD0-1248-48FB-B697-2656792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625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B56"/>
                </a:solidFill>
                <a:latin typeface="Noto Sans CJK SC"/>
                <a:ea typeface="Noto Sans CJK SC"/>
                <a:cs typeface="Noto Sans CJK SC"/>
              </a:rPr>
              <a:t>最后再推进 TensorRT 与部署加速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BD89B7-0E52-424C-8271-DDA2282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下一阶段优先级来自现有错误分析与技术报告，不将离线测试替代产线验收</a:t>
            </a:r>
          </a:p>
        </p:txBody>
      </p:sp>
    </p:spTree>
    <p:extLst>
      <p:ext uri="{BB962C8B-B14F-4D97-AF65-F5344CB8AC3E}">
        <p14:creationId xmlns:p14="http://schemas.microsoft.com/office/powerpoint/2010/main" val="1639356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ECD49-B39D-40D1-9299-49C413F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GEARPRO SOFTWARE ·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4438-480B-4876-BBC3-4E6F922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本阶段结论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1C42C-F9A7-4E6A-99B7-F8B66C3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F4FA-2016-4F14-968B-D79B64A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B7E45-C0C3-4E0F-893D-EBDD38E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42B8C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FBEDD-543E-473D-BA7C-E4AE6D57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00200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可信实验已迁移到可运行系统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ACAA9-3CE8-4AA4-A542-246EB52D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BB215-7790-446C-87C7-B3CF3F5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双专项优于当前统一模型，但仍有指标差距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44BF8-52A7-4921-93C1-FB6504F4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F536F-3422-4DAF-A708-146E9A9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下一阶段先改善数据与成像，再推进部署加速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F561D-C95B-4A8D-8DB3-958FB2E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5775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5EE84-D6CB-4EF3-9C38-B8FF44A5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当前双专项 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1937E-434E-4FD6-A98B-8D09D91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8A80"/>
                </a:solidFill>
                <a:latin typeface="Noto Sans CJK SC"/>
                <a:ea typeface="Noto Sans CJK SC"/>
                <a:cs typeface="Noto Sans CJK SC"/>
              </a:rPr>
              <a:t>Recall 0.8873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E5951-6B07-46AE-AB10-E9B5F5C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D85B4A"/>
                </a:solidFill>
                <a:latin typeface="Noto Sans CJK SC"/>
                <a:ea typeface="Noto Sans CJK SC"/>
                <a:cs typeface="Noto Sans CJK SC"/>
              </a:rPr>
              <a:t>FPR 0.2278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BB6BC-990C-4E5F-834A-A0C4C90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B2239"/>
                </a:solidFill>
                <a:latin typeface="Noto Sans CJK SC"/>
                <a:ea typeface="Noto Sans CJK SC"/>
                <a:cs typeface="Noto Sans CJK SC"/>
              </a:rPr>
              <a:t>谢谢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F7E95-B318-49E1-8409-457D2E2E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D7280"/>
                </a:solidFill>
                <a:latin typeface="Noto Sans CJK SC"/>
                <a:ea typeface="Noto Sans CJK SC"/>
                <a:cs typeface="Noto Sans CJK SC"/>
              </a:rPr>
              <a:t>结论口径：离线锁定测试；Jetson 与真实产线仍需单独验收</a:t>
            </a:r>
          </a:p>
        </p:txBody>
      </p:sp>
    </p:spTree>
    <p:extLst>
      <p:ext uri="{BB962C8B-B14F-4D97-AF65-F5344CB8AC3E}">
        <p14:creationId xmlns:p14="http://schemas.microsoft.com/office/powerpoint/2010/main" val="578617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2026-09-27T01:09:53.6340000Z</dcterms:created>
  <dcterms:modified xsi:type="dcterms:W3CDTF">2026-09-27T01:09:53.6340000Z</dcterms:modified>
</coreProperties>
</file>